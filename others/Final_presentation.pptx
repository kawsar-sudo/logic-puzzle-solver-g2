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by introducing all group members with full names. Then state the title and one-line goal: the project solves logic puzzles by representing them as constraints and searching only through valid possibilities.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main challenge is the number of possibilities. The project is AI because it uses knowledge of the puzzle rules to reduce the search space before trying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project scope in one flow: an incomplete puzzle goes into a reasoning engine, and the output is a completed puzzle or a clear message. Emphasize correctness, clarity, and connection to AI theory.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directly to lecture theory. Say that the project follows the CSP view: variables are unknown cells, domains are possible values, and constraints are the rules that make an assignment legal.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factor view simply. Variables are cells. Factors are rule checks. If one connected factor fails, the assignment is inconsistent and the solver should not continue with that branch.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the clearest theory example. A blank cell begins with all values. Row, column, and box constraints remove values. If one value remains, it becomes a forced assignment.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backtracking as organized depth-first search. It tries a value, checks consistency, and returns to a previous choice when a conflict is found. This is reliable because it can explore alternatives without losing the current puzzle 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algorithmic strategy. The solver first converts the puzzle into a CSP, then propagates constraints, then uses backtracking if choices remain. This connects the theory slides into one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correctness means more than producing a filled grid. The system should identify valid cases, reject invalid cases, stop correctly if no solution exists, and verify the final output against all constraints.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about project significance. Keep it specific: what theory was used, what the group learned, and why the system is more than a simple puzzle interface.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compactly. Restate the takeaway: the project converted a logic puzzle into a CSP, pruned impossible choices through constraints, and used backtracking to find a reliable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566928"/>
            <a:ext cx="2240280" cy="310896"/>
          </a:xfrm>
          <a:prstGeom prst="roundRect">
            <a:avLst>
              <a:gd name="adj" fmla="val 26471"/>
            </a:avLst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32765"/>
            <a:ext cx="20939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7111F"/>
                </a:solidFill>
              </a:rPr>
              <a:t>CSE440 - Artificial Intelligence</a:t>
            </a:r>
            <a:endParaRPr lang="en-US" sz="920" dirty="0"/>
          </a:p>
        </p:txBody>
      </p:sp>
      <p:sp>
        <p:nvSpPr>
          <p:cNvPr id="6" name="Shape 4"/>
          <p:cNvSpPr/>
          <p:nvPr/>
        </p:nvSpPr>
        <p:spPr>
          <a:xfrm>
            <a:off x="3063240" y="566928"/>
            <a:ext cx="1353312" cy="310896"/>
          </a:xfrm>
          <a:prstGeom prst="roundRect">
            <a:avLst>
              <a:gd name="adj" fmla="val 26471"/>
            </a:avLst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36392" y="632765"/>
            <a:ext cx="12070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7111F"/>
                </a:solidFill>
              </a:rPr>
              <a:t>Project Group 02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658368" y="1097280"/>
            <a:ext cx="7543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Logic Puzzle Solver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694944" y="1682496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CBD5E1"/>
                </a:solidFill>
              </a:rPr>
              <a:t>Using Constraint Satisfaction, Constraint Propagation, and Backtracking Search</a:t>
            </a:r>
            <a:endParaRPr lang="en-US" sz="1530" dirty="0"/>
          </a:p>
        </p:txBody>
      </p:sp>
      <p:sp>
        <p:nvSpPr>
          <p:cNvPr id="10" name="Shape 8"/>
          <p:cNvSpPr/>
          <p:nvPr/>
        </p:nvSpPr>
        <p:spPr>
          <a:xfrm>
            <a:off x="676656" y="2267712"/>
            <a:ext cx="6446520" cy="987552"/>
          </a:xfrm>
          <a:prstGeom prst="roundRect">
            <a:avLst>
              <a:gd name="adj" fmla="val 12037"/>
            </a:avLst>
          </a:prstGeom>
          <a:solidFill>
            <a:srgbClr val="0C1C31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248716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2DD4BF"/>
                </a:solidFill>
              </a:rPr>
              <a:t>Opening idea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950976" y="2724912"/>
            <a:ext cx="57607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“We built a solver that reasons with rules, not random guesses.”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13232" y="35661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</a:rPr>
              <a:t>Group members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13232" y="3913632"/>
            <a:ext cx="2450592" cy="1033272"/>
          </a:xfrm>
          <a:prstGeom prst="roundRect">
            <a:avLst>
              <a:gd name="adj" fmla="val 11504"/>
            </a:avLst>
          </a:prstGeom>
          <a:solidFill>
            <a:srgbClr val="1020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4187952"/>
            <a:ext cx="310896" cy="219456"/>
          </a:xfrm>
          <a:prstGeom prst="rect">
            <a:avLst/>
          </a:prstGeom>
          <a:solidFill>
            <a:srgbClr val="2DD4B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11F"/>
                </a:solidFill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4151376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Mohaimen Al Mamun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444398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2221726042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493008" y="3913632"/>
            <a:ext cx="2450592" cy="1033272"/>
          </a:xfrm>
          <a:prstGeom prst="roundRect">
            <a:avLst>
              <a:gd name="adj" fmla="val 11504"/>
            </a:avLst>
          </a:prstGeom>
          <a:solidFill>
            <a:srgbClr val="1020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0" y="4187952"/>
            <a:ext cx="310896" cy="219456"/>
          </a:xfrm>
          <a:prstGeom prst="rect">
            <a:avLst/>
          </a:prstGeom>
          <a:solidFill>
            <a:srgbClr val="2DD4B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11F"/>
                </a:solidFill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059936" y="4151376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Kawsar Hossain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059936" y="444398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2132211642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72784" y="3913632"/>
            <a:ext cx="2450592" cy="1033272"/>
          </a:xfrm>
          <a:prstGeom prst="roundRect">
            <a:avLst>
              <a:gd name="adj" fmla="val 11504"/>
            </a:avLst>
          </a:prstGeom>
          <a:solidFill>
            <a:srgbClr val="1020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37376" y="4187952"/>
            <a:ext cx="310896" cy="219456"/>
          </a:xfrm>
          <a:prstGeom prst="rect">
            <a:avLst/>
          </a:prstGeom>
          <a:solidFill>
            <a:srgbClr val="2DD4B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11F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39712" y="4151376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Susmit Talukder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39712" y="444398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2221865042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052560" y="3913632"/>
            <a:ext cx="2450592" cy="1033272"/>
          </a:xfrm>
          <a:prstGeom prst="roundRect">
            <a:avLst>
              <a:gd name="adj" fmla="val 11504"/>
            </a:avLst>
          </a:prstGeom>
          <a:solidFill>
            <a:srgbClr val="1020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17152" y="4187952"/>
            <a:ext cx="310896" cy="219456"/>
          </a:xfrm>
          <a:prstGeom prst="rect">
            <a:avLst/>
          </a:prstGeom>
          <a:solidFill>
            <a:srgbClr val="2DD4B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11F"/>
                </a:solidFill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19488" y="4151376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MD. Rafi Hoque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19488" y="444398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2131691642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887968" y="1444752"/>
            <a:ext cx="489204" cy="489204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87968" y="1517904"/>
            <a:ext cx="48920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1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377172" y="1444752"/>
            <a:ext cx="489204" cy="489204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866376" y="1444752"/>
            <a:ext cx="489204" cy="489204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66376" y="1517904"/>
            <a:ext cx="48920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3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0355580" y="1444752"/>
            <a:ext cx="489204" cy="489204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87968" y="1933956"/>
            <a:ext cx="489204" cy="489204"/>
          </a:xfrm>
          <a:prstGeom prst="rect">
            <a:avLst/>
          </a:prstGeom>
          <a:solidFill>
            <a:srgbClr val="FBBF24">
              <a:alpha val="31000"/>
            </a:srgbClr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377172" y="1933956"/>
            <a:ext cx="489204" cy="489204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377172" y="2007108"/>
            <a:ext cx="48920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4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9866376" y="1933956"/>
            <a:ext cx="489204" cy="489204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355580" y="1933956"/>
            <a:ext cx="489204" cy="489204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355580" y="2007108"/>
            <a:ext cx="48920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2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8887968" y="2423160"/>
            <a:ext cx="489204" cy="489204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887968" y="2496312"/>
            <a:ext cx="48920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2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9377172" y="2423160"/>
            <a:ext cx="489204" cy="489204"/>
          </a:xfrm>
          <a:prstGeom prst="rect">
            <a:avLst/>
          </a:prstGeom>
          <a:solidFill>
            <a:srgbClr val="FBBF24">
              <a:alpha val="31000"/>
            </a:srgbClr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866376" y="2423160"/>
            <a:ext cx="489204" cy="489204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866376" y="2496312"/>
            <a:ext cx="48920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4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10355580" y="2423160"/>
            <a:ext cx="489204" cy="489204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887968" y="2912364"/>
            <a:ext cx="489204" cy="489204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377172" y="2912364"/>
            <a:ext cx="489204" cy="489204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377172" y="2985516"/>
            <a:ext cx="48920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3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9866376" y="2912364"/>
            <a:ext cx="489204" cy="489204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355580" y="2912364"/>
            <a:ext cx="489204" cy="489204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355580" y="2985516"/>
            <a:ext cx="48920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1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9866376" y="1444752"/>
            <a:ext cx="0" cy="1956816"/>
          </a:xfrm>
          <a:prstGeom prst="line">
            <a:avLst/>
          </a:prstGeom>
          <a:noFill/>
          <a:ln w="27940">
            <a:solidFill>
              <a:srgbClr val="2DD4B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887968" y="2423160"/>
            <a:ext cx="1956816" cy="0"/>
          </a:xfrm>
          <a:prstGeom prst="line">
            <a:avLst/>
          </a:prstGeom>
          <a:noFill/>
          <a:ln w="27940">
            <a:solidFill>
              <a:srgbClr val="2DD4B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887968" y="1444752"/>
            <a:ext cx="1956816" cy="1956816"/>
          </a:xfrm>
          <a:prstGeom prst="rect">
            <a:avLst/>
          </a:prstGeom>
          <a:solidFill>
            <a:srgbClr val="07111F">
              <a:alpha val="0"/>
            </a:srgbClr>
          </a:solidFill>
          <a:ln w="25400">
            <a:solidFill>
              <a:srgbClr val="2DD4B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116568" y="363931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BBF24"/>
                </a:solidFill>
              </a:rPr>
              <a:t>CSP</a:t>
            </a:r>
            <a:endParaRPr lang="en-US" sz="2100" dirty="0"/>
          </a:p>
        </p:txBody>
      </p:sp>
      <p:sp>
        <p:nvSpPr>
          <p:cNvPr id="58" name="Shape 5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30712">
              <a:alpha val="95000"/>
            </a:srgbClr>
          </a:solidFill>
          <a:ln w="12700">
            <a:solidFill>
              <a:srgbClr val="030712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9184" y="6537960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02 | Mohaimen Al Mamun • Kawsar Hossain • Susmit Talukder • MD. Rafi Hoque</a:t>
            </a:r>
            <a:endParaRPr lang="en-US" sz="860" dirty="0"/>
          </a:p>
        </p:txBody>
      </p:sp>
      <p:sp>
        <p:nvSpPr>
          <p:cNvPr id="60" name="Text 58"/>
          <p:cNvSpPr/>
          <p:nvPr/>
        </p:nvSpPr>
        <p:spPr>
          <a:xfrm>
            <a:off x="11384280" y="6519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1/11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50292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problem: too many possible worlds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594360" y="987552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94A3B8"/>
                </a:solidFill>
              </a:rPr>
              <a:t>A puzzle may look small, but blind guessing quickly becomes impractical.</a:t>
            </a:r>
            <a:endParaRPr lang="en-US" sz="1180" dirty="0"/>
          </a:p>
        </p:txBody>
      </p:sp>
      <p:sp>
        <p:nvSpPr>
          <p:cNvPr id="6" name="Shape 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30712">
              <a:alpha val="95000"/>
            </a:srgbClr>
          </a:solidFill>
          <a:ln w="12700">
            <a:solidFill>
              <a:srgbClr val="03071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6537960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02 | Mohaimen Al Mamun • Kawsar Hossain • Susmit Talukder • MD. Rafi Hoque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11384280" y="6519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2/11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13232" y="1517904"/>
            <a:ext cx="4800600" cy="4160520"/>
          </a:xfrm>
          <a:prstGeom prst="roundRect">
            <a:avLst>
              <a:gd name="adj" fmla="val 2857"/>
            </a:avLst>
          </a:prstGeom>
          <a:solidFill>
            <a:srgbClr val="0C1C31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8470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7185"/>
                </a:solidFill>
              </a:rPr>
              <a:t>Without AI reasoning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051560" y="2569464"/>
            <a:ext cx="109728" cy="109728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71016" y="250545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F8FAFC"/>
                </a:solidFill>
              </a:rPr>
              <a:t>Treat every blank as a guess.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1051560" y="3118104"/>
            <a:ext cx="109728" cy="109728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71016" y="305409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F8FAFC"/>
                </a:solidFill>
              </a:rPr>
              <a:t>Try combinations until something works.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1051560" y="3666744"/>
            <a:ext cx="109728" cy="109728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71016" y="360273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F8FAFC"/>
                </a:solidFill>
              </a:rPr>
              <a:t>Wastes time on illegal branches.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051560" y="45902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BF24"/>
                </a:solidFill>
              </a:rPr>
              <a:t>Result: search explosion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473952" y="1517904"/>
            <a:ext cx="4800600" cy="4160520"/>
          </a:xfrm>
          <a:prstGeom prst="roundRect">
            <a:avLst>
              <a:gd name="adj" fmla="val 2857"/>
            </a:avLst>
          </a:prstGeom>
          <a:solidFill>
            <a:srgbClr val="0B2B27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48272" y="18470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D4BF"/>
                </a:solidFill>
              </a:rPr>
              <a:t>With CSP reasoning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812280" y="2569464"/>
            <a:ext cx="109728" cy="10972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31736" y="250545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F8FAFC"/>
                </a:solidFill>
              </a:rPr>
              <a:t>Use rules before guessing.</a:t>
            </a:r>
            <a:endParaRPr lang="en-US" sz="1750" dirty="0"/>
          </a:p>
        </p:txBody>
      </p:sp>
      <p:sp>
        <p:nvSpPr>
          <p:cNvPr id="22" name="Shape 20"/>
          <p:cNvSpPr/>
          <p:nvPr/>
        </p:nvSpPr>
        <p:spPr>
          <a:xfrm>
            <a:off x="6812280" y="3118104"/>
            <a:ext cx="109728" cy="10972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31736" y="305409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F8FAFC"/>
                </a:solidFill>
              </a:rPr>
              <a:t>Remove impossible values early.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6812280" y="3666744"/>
            <a:ext cx="109728" cy="10972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31736" y="360273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F8FAFC"/>
                </a:solidFill>
              </a:rPr>
              <a:t>Backtrack only at real conflicts.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6812280" y="45902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D399"/>
                </a:solidFill>
              </a:rPr>
              <a:t>Result: guided search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687568" y="3538728"/>
            <a:ext cx="621792" cy="0"/>
          </a:xfrm>
          <a:prstGeom prst="line">
            <a:avLst/>
          </a:prstGeom>
          <a:noFill/>
          <a:ln w="27940">
            <a:solidFill>
              <a:srgbClr val="FBBF24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50292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objective and scope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594360" y="987552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94A3B8"/>
                </a:solidFill>
              </a:rPr>
              <a:t>We focused on solving grid-based logic puzzles through formal AI search.</a:t>
            </a:r>
            <a:endParaRPr lang="en-US" sz="1180" dirty="0"/>
          </a:p>
        </p:txBody>
      </p:sp>
      <p:sp>
        <p:nvSpPr>
          <p:cNvPr id="6" name="Shape 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30712">
              <a:alpha val="95000"/>
            </a:srgbClr>
          </a:solidFill>
          <a:ln w="12700">
            <a:solidFill>
              <a:srgbClr val="03071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6537960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02 | Mohaimen Al Mamun • Kawsar Hossain • Susmit Talukder • MD. Rafi Hoque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11384280" y="6519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3/11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68680" y="1600200"/>
            <a:ext cx="537210" cy="537210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673352"/>
            <a:ext cx="53721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1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405890" y="1600200"/>
            <a:ext cx="537210" cy="537210"/>
          </a:xfrm>
          <a:prstGeom prst="rect">
            <a:avLst/>
          </a:prstGeom>
          <a:solidFill>
            <a:srgbClr val="FBBF24">
              <a:alpha val="31000"/>
            </a:srgbClr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43100" y="1600200"/>
            <a:ext cx="537210" cy="537210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43100" y="1673352"/>
            <a:ext cx="53721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480310" y="1600200"/>
            <a:ext cx="537210" cy="537210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2137410"/>
            <a:ext cx="537210" cy="537210"/>
          </a:xfrm>
          <a:prstGeom prst="rect">
            <a:avLst/>
          </a:prstGeom>
          <a:solidFill>
            <a:srgbClr val="FBBF24">
              <a:alpha val="31000"/>
            </a:srgbClr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05890" y="2137410"/>
            <a:ext cx="537210" cy="537210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05890" y="2210562"/>
            <a:ext cx="53721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943100" y="2137410"/>
            <a:ext cx="537210" cy="537210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80310" y="2137410"/>
            <a:ext cx="537210" cy="537210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80310" y="2210562"/>
            <a:ext cx="53721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2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68680" y="2674620"/>
            <a:ext cx="537210" cy="537210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2747772"/>
            <a:ext cx="53721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2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405890" y="2674620"/>
            <a:ext cx="537210" cy="537210"/>
          </a:xfrm>
          <a:prstGeom prst="rect">
            <a:avLst/>
          </a:prstGeom>
          <a:solidFill>
            <a:srgbClr val="FBBF24">
              <a:alpha val="31000"/>
            </a:srgbClr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43100" y="2674620"/>
            <a:ext cx="537210" cy="537210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43100" y="2747772"/>
            <a:ext cx="53721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4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2480310" y="2674620"/>
            <a:ext cx="537210" cy="537210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680" y="3211830"/>
            <a:ext cx="537210" cy="537210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405890" y="3211830"/>
            <a:ext cx="537210" cy="537210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05890" y="3284982"/>
            <a:ext cx="53721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3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943100" y="3211830"/>
            <a:ext cx="537210" cy="537210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80310" y="3211830"/>
            <a:ext cx="537210" cy="537210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80310" y="3284982"/>
            <a:ext cx="53721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1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943100" y="1600200"/>
            <a:ext cx="0" cy="2148840"/>
          </a:xfrm>
          <a:prstGeom prst="line">
            <a:avLst/>
          </a:prstGeom>
          <a:noFill/>
          <a:ln w="27940">
            <a:solidFill>
              <a:srgbClr val="2DD4B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8680" y="2674620"/>
            <a:ext cx="2148840" cy="0"/>
          </a:xfrm>
          <a:prstGeom prst="line">
            <a:avLst/>
          </a:prstGeom>
          <a:noFill/>
          <a:ln w="27940">
            <a:solidFill>
              <a:srgbClr val="2DD4B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68680" y="1600200"/>
            <a:ext cx="2148840" cy="2148840"/>
          </a:xfrm>
          <a:prstGeom prst="rect">
            <a:avLst/>
          </a:prstGeom>
          <a:solidFill>
            <a:srgbClr val="07111F">
              <a:alpha val="0"/>
            </a:srgbClr>
          </a:solidFill>
          <a:ln w="25400">
            <a:solidFill>
              <a:srgbClr val="2DD4B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46120" y="2688336"/>
            <a:ext cx="667512" cy="0"/>
          </a:xfrm>
          <a:prstGeom prst="line">
            <a:avLst/>
          </a:prstGeom>
          <a:noFill/>
          <a:ln w="27940">
            <a:solidFill>
              <a:srgbClr val="2DD4BF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4096512" y="1627632"/>
            <a:ext cx="3246120" cy="2103120"/>
          </a:xfrm>
          <a:prstGeom prst="roundRect">
            <a:avLst>
              <a:gd name="adj" fmla="val 5652"/>
            </a:avLst>
          </a:prstGeom>
          <a:solidFill>
            <a:srgbClr val="0C1C31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07408" y="18836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D4BF"/>
                </a:solidFill>
              </a:rPr>
              <a:t>Reasoning engine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4498848" y="2487168"/>
            <a:ext cx="22402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CSP model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+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Constraint propagation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+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Backtracking search</a:t>
            </a:r>
            <a:endParaRPr lang="en-US" sz="1700" dirty="0"/>
          </a:p>
        </p:txBody>
      </p:sp>
      <p:sp>
        <p:nvSpPr>
          <p:cNvPr id="40" name="Shape 38"/>
          <p:cNvSpPr/>
          <p:nvPr/>
        </p:nvSpPr>
        <p:spPr>
          <a:xfrm>
            <a:off x="7534656" y="2688336"/>
            <a:ext cx="658368" cy="0"/>
          </a:xfrm>
          <a:prstGeom prst="line">
            <a:avLst/>
          </a:prstGeom>
          <a:noFill/>
          <a:ln w="27940">
            <a:solidFill>
              <a:srgbClr val="2DD4BF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8394192" y="1600200"/>
            <a:ext cx="537210" cy="537210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94192" y="1673352"/>
            <a:ext cx="53721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1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8931402" y="1600200"/>
            <a:ext cx="537210" cy="537210"/>
          </a:xfrm>
          <a:prstGeom prst="rect">
            <a:avLst/>
          </a:prstGeom>
          <a:solidFill>
            <a:srgbClr val="34D399">
              <a:alpha val="31000"/>
            </a:srgbClr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931402" y="1673352"/>
            <a:ext cx="53721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2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9468612" y="1600200"/>
            <a:ext cx="537210" cy="537210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468612" y="1673352"/>
            <a:ext cx="53721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3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10005822" y="1600200"/>
            <a:ext cx="537210" cy="537210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005822" y="1673352"/>
            <a:ext cx="53721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4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8394192" y="2137410"/>
            <a:ext cx="537210" cy="537210"/>
          </a:xfrm>
          <a:prstGeom prst="rect">
            <a:avLst/>
          </a:prstGeom>
          <a:solidFill>
            <a:srgbClr val="34D399">
              <a:alpha val="31000"/>
            </a:srgbClr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394192" y="2210562"/>
            <a:ext cx="53721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3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8931402" y="2137410"/>
            <a:ext cx="537210" cy="537210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931402" y="2210562"/>
            <a:ext cx="53721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4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9468612" y="2137410"/>
            <a:ext cx="537210" cy="537210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468612" y="2210562"/>
            <a:ext cx="53721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1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10005822" y="2137410"/>
            <a:ext cx="537210" cy="537210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005822" y="2210562"/>
            <a:ext cx="53721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2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8394192" y="2674620"/>
            <a:ext cx="537210" cy="537210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394192" y="2747772"/>
            <a:ext cx="53721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2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8931402" y="2674620"/>
            <a:ext cx="537210" cy="537210"/>
          </a:xfrm>
          <a:prstGeom prst="rect">
            <a:avLst/>
          </a:prstGeom>
          <a:solidFill>
            <a:srgbClr val="34D399">
              <a:alpha val="31000"/>
            </a:srgbClr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931402" y="2747772"/>
            <a:ext cx="53721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1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9468612" y="2674620"/>
            <a:ext cx="537210" cy="537210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468612" y="2747772"/>
            <a:ext cx="53721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4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10005822" y="2674620"/>
            <a:ext cx="537210" cy="537210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005822" y="2747772"/>
            <a:ext cx="53721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3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8394192" y="3211830"/>
            <a:ext cx="537210" cy="537210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394192" y="3284982"/>
            <a:ext cx="53721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4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8931402" y="3211830"/>
            <a:ext cx="537210" cy="537210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931402" y="3284982"/>
            <a:ext cx="53721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3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9468612" y="3211830"/>
            <a:ext cx="537210" cy="537210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468612" y="3284982"/>
            <a:ext cx="53721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2</a:t>
            </a:r>
            <a:endParaRPr lang="en-US" sz="1800" dirty="0"/>
          </a:p>
        </p:txBody>
      </p:sp>
      <p:sp>
        <p:nvSpPr>
          <p:cNvPr id="71" name="Shape 69"/>
          <p:cNvSpPr/>
          <p:nvPr/>
        </p:nvSpPr>
        <p:spPr>
          <a:xfrm>
            <a:off x="10005822" y="3211830"/>
            <a:ext cx="537210" cy="537210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005822" y="3284982"/>
            <a:ext cx="53721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1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9468612" y="1600200"/>
            <a:ext cx="0" cy="2148840"/>
          </a:xfrm>
          <a:prstGeom prst="line">
            <a:avLst/>
          </a:prstGeom>
          <a:noFill/>
          <a:ln w="27940">
            <a:solidFill>
              <a:srgbClr val="2DD4B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394192" y="2674620"/>
            <a:ext cx="2148840" cy="0"/>
          </a:xfrm>
          <a:prstGeom prst="line">
            <a:avLst/>
          </a:prstGeom>
          <a:noFill/>
          <a:ln w="27940">
            <a:solidFill>
              <a:srgbClr val="2DD4B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394192" y="1600200"/>
            <a:ext cx="2148840" cy="2148840"/>
          </a:xfrm>
          <a:prstGeom prst="rect">
            <a:avLst/>
          </a:prstGeom>
          <a:solidFill>
            <a:srgbClr val="07111F">
              <a:alpha val="0"/>
            </a:srgbClr>
          </a:solidFill>
          <a:ln w="25400">
            <a:solidFill>
              <a:srgbClr val="2DD4B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04672" y="4389120"/>
            <a:ext cx="3246120" cy="914400"/>
          </a:xfrm>
          <a:prstGeom prst="roundRect">
            <a:avLst>
              <a:gd name="adj" fmla="val 13000"/>
            </a:avLst>
          </a:prstGeom>
          <a:solidFill>
            <a:srgbClr val="10203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005840" y="460857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4D399"/>
                </a:solidFill>
              </a:rPr>
              <a:t>Correctness</a:t>
            </a:r>
            <a:endParaRPr lang="en-US" sz="1550" dirty="0"/>
          </a:p>
        </p:txBody>
      </p:sp>
      <p:sp>
        <p:nvSpPr>
          <p:cNvPr id="78" name="Text 76"/>
          <p:cNvSpPr/>
          <p:nvPr/>
        </p:nvSpPr>
        <p:spPr>
          <a:xfrm>
            <a:off x="1005840" y="491947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Every output must satisfy all puzzle rules.</a:t>
            </a:r>
            <a:endParaRPr lang="en-US" sz="1080" dirty="0"/>
          </a:p>
        </p:txBody>
      </p:sp>
      <p:sp>
        <p:nvSpPr>
          <p:cNvPr id="79" name="Shape 77"/>
          <p:cNvSpPr/>
          <p:nvPr/>
        </p:nvSpPr>
        <p:spPr>
          <a:xfrm>
            <a:off x="4507992" y="4389120"/>
            <a:ext cx="3246120" cy="914400"/>
          </a:xfrm>
          <a:prstGeom prst="roundRect">
            <a:avLst>
              <a:gd name="adj" fmla="val 13000"/>
            </a:avLst>
          </a:prstGeom>
          <a:solidFill>
            <a:srgbClr val="10203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709160" y="460857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0A5FA"/>
                </a:solidFill>
              </a:rPr>
              <a:t>Clarity</a:t>
            </a:r>
            <a:endParaRPr lang="en-US" sz="1550" dirty="0"/>
          </a:p>
        </p:txBody>
      </p:sp>
      <p:sp>
        <p:nvSpPr>
          <p:cNvPr id="81" name="Text 79"/>
          <p:cNvSpPr/>
          <p:nvPr/>
        </p:nvSpPr>
        <p:spPr>
          <a:xfrm>
            <a:off x="4709160" y="491947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The solver should expose whether a puzzle is valid, solved, or impossible.</a:t>
            </a:r>
            <a:endParaRPr lang="en-US" sz="1080" dirty="0"/>
          </a:p>
        </p:txBody>
      </p:sp>
      <p:sp>
        <p:nvSpPr>
          <p:cNvPr id="82" name="Shape 80"/>
          <p:cNvSpPr/>
          <p:nvPr/>
        </p:nvSpPr>
        <p:spPr>
          <a:xfrm>
            <a:off x="8211312" y="4389120"/>
            <a:ext cx="3246120" cy="914400"/>
          </a:xfrm>
          <a:prstGeom prst="roundRect">
            <a:avLst>
              <a:gd name="adj" fmla="val 13000"/>
            </a:avLst>
          </a:prstGeom>
          <a:solidFill>
            <a:srgbClr val="10203A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412480" y="460857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BBF24"/>
                </a:solidFill>
              </a:rPr>
              <a:t>AI relevance</a:t>
            </a:r>
            <a:endParaRPr lang="en-US" sz="1550" dirty="0"/>
          </a:p>
        </p:txBody>
      </p:sp>
      <p:sp>
        <p:nvSpPr>
          <p:cNvPr id="84" name="Text 82"/>
          <p:cNvSpPr/>
          <p:nvPr/>
        </p:nvSpPr>
        <p:spPr>
          <a:xfrm>
            <a:off x="8412480" y="491947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</a:rPr>
              <a:t>The implementation should match class concepts of CSP and search.</a:t>
            </a:r>
            <a:endParaRPr lang="en-US" sz="10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50292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CSP formulation from class theory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594360" y="987552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94A3B8"/>
                </a:solidFill>
              </a:rPr>
              <a:t>Taking reference from our class lectures, a puzzle becomes CSP = (X, D, C).</a:t>
            </a:r>
            <a:endParaRPr lang="en-US" sz="1180" dirty="0"/>
          </a:p>
        </p:txBody>
      </p:sp>
      <p:sp>
        <p:nvSpPr>
          <p:cNvPr id="6" name="Shape 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30712">
              <a:alpha val="95000"/>
            </a:srgbClr>
          </a:solidFill>
          <a:ln w="12700">
            <a:solidFill>
              <a:srgbClr val="03071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6537960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02 | Mohaimen Al Mamun • Kawsar Hossain • Susmit Talukder • MD. Rafi Hoque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11384280" y="6519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4/11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49808" y="1572768"/>
            <a:ext cx="3154680" cy="3474720"/>
          </a:xfrm>
          <a:prstGeom prst="roundRect">
            <a:avLst>
              <a:gd name="adj" fmla="val 3768"/>
            </a:avLst>
          </a:prstGeom>
          <a:solidFill>
            <a:srgbClr val="0B2337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19202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60A5FA"/>
                </a:solidFill>
              </a:rPr>
              <a:t>X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1783080" y="20299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Variables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078992" y="2743200"/>
            <a:ext cx="2331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BD5E1"/>
                </a:solidFill>
              </a:rPr>
              <a:t>Each empty cell is a variable to be assigned.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78992" y="3977640"/>
            <a:ext cx="2331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Example: cell (row 1, column 2)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26280" y="1572768"/>
            <a:ext cx="3154680" cy="3474720"/>
          </a:xfrm>
          <a:prstGeom prst="roundRect">
            <a:avLst>
              <a:gd name="adj" fmla="val 3768"/>
            </a:avLst>
          </a:prstGeom>
          <a:solidFill>
            <a:srgbClr val="2A200A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19202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BBF24"/>
                </a:solidFill>
              </a:rPr>
              <a:t>D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5541264" y="20299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Domains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4864608" y="2743200"/>
            <a:ext cx="2331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BD5E1"/>
                </a:solidFill>
              </a:rPr>
              <a:t>Each variable has possible values before final assignment.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864608" y="3977640"/>
            <a:ext cx="2331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Example: {2, 4}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302752" y="1572768"/>
            <a:ext cx="3154680" cy="3474720"/>
          </a:xfrm>
          <a:prstGeom prst="roundRect">
            <a:avLst>
              <a:gd name="adj" fmla="val 3768"/>
            </a:avLst>
          </a:prstGeom>
          <a:solidFill>
            <a:srgbClr val="0B2B27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41080" y="19202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DD4BF"/>
                </a:solidFill>
              </a:rPr>
              <a:t>C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9308592" y="202996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Constraints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8641080" y="2743200"/>
            <a:ext cx="2331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BD5E1"/>
                </a:solidFill>
              </a:rPr>
              <a:t>Rules decide whether an assignment is consistent.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641080" y="3977640"/>
            <a:ext cx="2331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Example: no duplicates in a unit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011680" y="5532120"/>
            <a:ext cx="8183880" cy="502920"/>
          </a:xfrm>
          <a:prstGeom prst="roundRect">
            <a:avLst>
              <a:gd name="adj" fmla="val 23636"/>
            </a:avLst>
          </a:prstGeom>
          <a:solidFill>
            <a:srgbClr val="0C1C31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31720" y="5687568"/>
            <a:ext cx="7543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F8FAFC"/>
                </a:solidFill>
              </a:rPr>
              <a:t>A solution is a complete assignment where every constraint is satisfied.</a:t>
            </a:r>
            <a:endParaRPr lang="en-US" sz="14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50292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Constraint network / factor view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594360" y="987552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94A3B8"/>
                </a:solidFill>
              </a:rPr>
              <a:t>The same idea can be visualized as variables connected through rule factors.</a:t>
            </a:r>
            <a:endParaRPr lang="en-US" sz="1180" dirty="0"/>
          </a:p>
        </p:txBody>
      </p:sp>
      <p:sp>
        <p:nvSpPr>
          <p:cNvPr id="6" name="Shape 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30712">
              <a:alpha val="95000"/>
            </a:srgbClr>
          </a:solidFill>
          <a:ln w="12700">
            <a:solidFill>
              <a:srgbClr val="03071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6537960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02 | Mohaimen Al Mamun • Kawsar Hossain • Susmit Talukder • MD. Rafi Hoque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11384280" y="6519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5/11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13232" y="1417320"/>
            <a:ext cx="4114800" cy="4434840"/>
          </a:xfrm>
          <a:prstGeom prst="roundRect">
            <a:avLst>
              <a:gd name="adj" fmla="val 2889"/>
            </a:avLst>
          </a:prstGeom>
          <a:solidFill>
            <a:srgbClr val="0C1C31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61872" y="1874520"/>
            <a:ext cx="674370" cy="674370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61872" y="1947672"/>
            <a:ext cx="67437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1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936242" y="1874520"/>
            <a:ext cx="674370" cy="674370"/>
          </a:xfrm>
          <a:prstGeom prst="rect">
            <a:avLst/>
          </a:prstGeom>
          <a:solidFill>
            <a:srgbClr val="2DD4BF">
              <a:alpha val="31000"/>
            </a:srgbClr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10612" y="1874520"/>
            <a:ext cx="674370" cy="674370"/>
          </a:xfrm>
          <a:prstGeom prst="rect">
            <a:avLst/>
          </a:prstGeom>
          <a:solidFill>
            <a:srgbClr val="2DD4BF">
              <a:alpha val="31000"/>
            </a:srgbClr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10612" y="1947672"/>
            <a:ext cx="67437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284982" y="1874520"/>
            <a:ext cx="674370" cy="674370"/>
          </a:xfrm>
          <a:prstGeom prst="rect">
            <a:avLst/>
          </a:prstGeom>
          <a:solidFill>
            <a:srgbClr val="2DD4BF">
              <a:alpha val="31000"/>
            </a:srgbClr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61872" y="2548890"/>
            <a:ext cx="674370" cy="674370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36242" y="2548890"/>
            <a:ext cx="674370" cy="674370"/>
          </a:xfrm>
          <a:prstGeom prst="rect">
            <a:avLst/>
          </a:prstGeom>
          <a:solidFill>
            <a:srgbClr val="2DD4BF">
              <a:alpha val="31000"/>
            </a:srgbClr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36242" y="2622042"/>
            <a:ext cx="67437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610612" y="2548890"/>
            <a:ext cx="674370" cy="674370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84982" y="2548890"/>
            <a:ext cx="674370" cy="674370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84982" y="2622042"/>
            <a:ext cx="67437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2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261872" y="3223260"/>
            <a:ext cx="674370" cy="674370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61872" y="3296412"/>
            <a:ext cx="67437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2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936242" y="3223260"/>
            <a:ext cx="674370" cy="674370"/>
          </a:xfrm>
          <a:prstGeom prst="rect">
            <a:avLst/>
          </a:prstGeom>
          <a:solidFill>
            <a:srgbClr val="2DD4BF">
              <a:alpha val="31000"/>
            </a:srgbClr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10612" y="3223260"/>
            <a:ext cx="674370" cy="674370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10612" y="3296412"/>
            <a:ext cx="67437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4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284982" y="3223260"/>
            <a:ext cx="674370" cy="674370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61872" y="3897630"/>
            <a:ext cx="674370" cy="674370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36242" y="3897630"/>
            <a:ext cx="674370" cy="674370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36242" y="3970782"/>
            <a:ext cx="67437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3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2610612" y="3897630"/>
            <a:ext cx="674370" cy="674370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84982" y="3897630"/>
            <a:ext cx="674370" cy="674370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84982" y="3970782"/>
            <a:ext cx="67437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1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2610612" y="1874520"/>
            <a:ext cx="0" cy="2697480"/>
          </a:xfrm>
          <a:prstGeom prst="line">
            <a:avLst/>
          </a:prstGeom>
          <a:noFill/>
          <a:ln w="27940">
            <a:solidFill>
              <a:srgbClr val="2DD4B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261872" y="3223260"/>
            <a:ext cx="2697480" cy="0"/>
          </a:xfrm>
          <a:prstGeom prst="line">
            <a:avLst/>
          </a:prstGeom>
          <a:noFill/>
          <a:ln w="27940">
            <a:solidFill>
              <a:srgbClr val="2DD4B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61872" y="1874520"/>
            <a:ext cx="2697480" cy="2697480"/>
          </a:xfrm>
          <a:prstGeom prst="rect">
            <a:avLst/>
          </a:prstGeom>
          <a:solidFill>
            <a:srgbClr val="07111F">
              <a:alpha val="0"/>
            </a:srgbClr>
          </a:solidFill>
          <a:ln w="25400">
            <a:solidFill>
              <a:srgbClr val="2DD4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25880" y="4754880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Rules in the grid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1207008" y="5120640"/>
            <a:ext cx="2788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Row, column, and box rules create dependencies between cells.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5486400" y="1417320"/>
            <a:ext cx="5989320" cy="4434840"/>
          </a:xfrm>
          <a:prstGeom prst="roundRect">
            <a:avLst>
              <a:gd name="adj" fmla="val 2680"/>
            </a:avLst>
          </a:prstGeom>
          <a:solidFill>
            <a:srgbClr val="0B172A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55664" y="2880360"/>
            <a:ext cx="85953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808976" y="2880360"/>
            <a:ext cx="81381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562088" y="2148840"/>
            <a:ext cx="0" cy="50292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562088" y="3127248"/>
            <a:ext cx="0" cy="530352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116568" y="2880360"/>
            <a:ext cx="85039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451592" y="2880360"/>
            <a:ext cx="32004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016752" y="2660904"/>
            <a:ext cx="438912" cy="438912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16752" y="2784348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8FAFC"/>
                </a:solidFill>
              </a:rPr>
              <a:t>X1</a:t>
            </a:r>
            <a:endParaRPr lang="en-US" sz="880" dirty="0"/>
          </a:p>
        </p:txBody>
      </p:sp>
      <p:sp>
        <p:nvSpPr>
          <p:cNvPr id="48" name="Shape 46"/>
          <p:cNvSpPr/>
          <p:nvPr/>
        </p:nvSpPr>
        <p:spPr>
          <a:xfrm>
            <a:off x="7315200" y="2633472"/>
            <a:ext cx="493776" cy="493776"/>
          </a:xfrm>
          <a:prstGeom prst="roundRect">
            <a:avLst>
              <a:gd name="adj" fmla="val 14815"/>
            </a:avLst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78040" y="3182112"/>
            <a:ext cx="768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BBF24"/>
                </a:solidFill>
              </a:rPr>
              <a:t>Row</a:t>
            </a:r>
            <a:endParaRPr lang="en-US" sz="820" dirty="0"/>
          </a:p>
        </p:txBody>
      </p:sp>
      <p:sp>
        <p:nvSpPr>
          <p:cNvPr id="50" name="Shape 48"/>
          <p:cNvSpPr/>
          <p:nvPr/>
        </p:nvSpPr>
        <p:spPr>
          <a:xfrm>
            <a:off x="8622792" y="2660904"/>
            <a:ext cx="438912" cy="438912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622792" y="2784348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8FAFC"/>
                </a:solidFill>
              </a:rPr>
              <a:t>X2</a:t>
            </a:r>
            <a:endParaRPr lang="en-US" sz="880" dirty="0"/>
          </a:p>
        </p:txBody>
      </p:sp>
      <p:sp>
        <p:nvSpPr>
          <p:cNvPr id="52" name="Shape 50"/>
          <p:cNvSpPr/>
          <p:nvPr/>
        </p:nvSpPr>
        <p:spPr>
          <a:xfrm>
            <a:off x="7315200" y="1901952"/>
            <a:ext cx="493776" cy="493776"/>
          </a:xfrm>
          <a:prstGeom prst="roundRect">
            <a:avLst>
              <a:gd name="adj" fmla="val 14815"/>
            </a:avLst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78040" y="2450592"/>
            <a:ext cx="768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DD4BF"/>
                </a:solidFill>
              </a:rPr>
              <a:t>Col</a:t>
            </a:r>
            <a:endParaRPr lang="en-US" sz="820" dirty="0"/>
          </a:p>
        </p:txBody>
      </p:sp>
      <p:sp>
        <p:nvSpPr>
          <p:cNvPr id="54" name="Shape 52"/>
          <p:cNvSpPr/>
          <p:nvPr/>
        </p:nvSpPr>
        <p:spPr>
          <a:xfrm>
            <a:off x="7342632" y="3657600"/>
            <a:ext cx="438912" cy="438912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42632" y="3781044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8FAFC"/>
                </a:solidFill>
              </a:rPr>
              <a:t>X3</a:t>
            </a:r>
            <a:endParaRPr lang="en-US" sz="880" dirty="0"/>
          </a:p>
        </p:txBody>
      </p:sp>
      <p:sp>
        <p:nvSpPr>
          <p:cNvPr id="56" name="Shape 54"/>
          <p:cNvSpPr/>
          <p:nvPr/>
        </p:nvSpPr>
        <p:spPr>
          <a:xfrm>
            <a:off x="9966960" y="2633472"/>
            <a:ext cx="493776" cy="493776"/>
          </a:xfrm>
          <a:prstGeom prst="roundRect">
            <a:avLst>
              <a:gd name="adj" fmla="val 14815"/>
            </a:avLst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829800" y="3182112"/>
            <a:ext cx="768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A78BFA"/>
                </a:solidFill>
              </a:rPr>
              <a:t>Box</a:t>
            </a:r>
            <a:endParaRPr lang="en-US" sz="820" dirty="0"/>
          </a:p>
        </p:txBody>
      </p:sp>
      <p:sp>
        <p:nvSpPr>
          <p:cNvPr id="58" name="Shape 56"/>
          <p:cNvSpPr/>
          <p:nvPr/>
        </p:nvSpPr>
        <p:spPr>
          <a:xfrm>
            <a:off x="10771632" y="2660904"/>
            <a:ext cx="438912" cy="438912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771632" y="2784348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8FAFC"/>
                </a:solidFill>
              </a:rPr>
              <a:t>X4</a:t>
            </a:r>
            <a:endParaRPr lang="en-US" sz="880" dirty="0"/>
          </a:p>
        </p:txBody>
      </p:sp>
      <p:sp>
        <p:nvSpPr>
          <p:cNvPr id="60" name="Text 58"/>
          <p:cNvSpPr/>
          <p:nvPr/>
        </p:nvSpPr>
        <p:spPr>
          <a:xfrm>
            <a:off x="6446520" y="470916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Factor satisfaction</a:t>
            </a:r>
            <a:endParaRPr lang="en-US" sz="2100" dirty="0"/>
          </a:p>
        </p:txBody>
      </p:sp>
      <p:sp>
        <p:nvSpPr>
          <p:cNvPr id="61" name="Text 59"/>
          <p:cNvSpPr/>
          <p:nvPr/>
        </p:nvSpPr>
        <p:spPr>
          <a:xfrm>
            <a:off x="6355080" y="5102352"/>
            <a:ext cx="42519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60" dirty="0">
                <a:solidFill>
                  <a:srgbClr val="CBD5E1"/>
                </a:solidFill>
              </a:rPr>
              <a:t>A candidate solution survives only when every connected rule factor is satisfied.</a:t>
            </a:r>
            <a:endParaRPr lang="en-US" sz="12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50292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Constraint propagation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594360" y="987552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94A3B8"/>
                </a:solidFill>
              </a:rPr>
              <a:t>Before deep search, the solver removes values that cannot be true.</a:t>
            </a:r>
            <a:endParaRPr lang="en-US" sz="1180" dirty="0"/>
          </a:p>
        </p:txBody>
      </p:sp>
      <p:sp>
        <p:nvSpPr>
          <p:cNvPr id="6" name="Shape 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30712">
              <a:alpha val="95000"/>
            </a:srgbClr>
          </a:solidFill>
          <a:ln w="12700">
            <a:solidFill>
              <a:srgbClr val="03071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6537960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02 | Mohaimen Al Mamun • Kawsar Hossain • Susmit Talukder • MD. Rafi Hoque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11384280" y="6519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6/11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49808" y="1508760"/>
            <a:ext cx="3383280" cy="4297680"/>
          </a:xfrm>
          <a:prstGeom prst="roundRect">
            <a:avLst>
              <a:gd name="adj" fmla="val 3514"/>
            </a:avLst>
          </a:prstGeom>
          <a:solidFill>
            <a:srgbClr val="0C1C31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18470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0A5FA"/>
                </a:solidFill>
              </a:rPr>
              <a:t>Start domain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78992" y="24871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{1, 2, 3, 4}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298448" y="3227832"/>
            <a:ext cx="452628" cy="452628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3300984"/>
            <a:ext cx="45262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1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751076" y="3227832"/>
            <a:ext cx="452628" cy="452628"/>
          </a:xfrm>
          <a:prstGeom prst="rect">
            <a:avLst/>
          </a:prstGeom>
          <a:solidFill>
            <a:srgbClr val="60A5FA">
              <a:alpha val="31000"/>
            </a:srgbClr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51076" y="3300984"/>
            <a:ext cx="45262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?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203704" y="3227832"/>
            <a:ext cx="452628" cy="452628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03704" y="3300984"/>
            <a:ext cx="45262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656332" y="3227832"/>
            <a:ext cx="452628" cy="452628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98448" y="3680460"/>
            <a:ext cx="452628" cy="452628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51076" y="3680460"/>
            <a:ext cx="452628" cy="452628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51076" y="3753612"/>
            <a:ext cx="45262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2203704" y="3680460"/>
            <a:ext cx="452628" cy="452628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56332" y="3680460"/>
            <a:ext cx="452628" cy="452628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56332" y="3753612"/>
            <a:ext cx="45262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2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298448" y="4133088"/>
            <a:ext cx="452628" cy="452628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98448" y="4206240"/>
            <a:ext cx="45262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2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751076" y="4133088"/>
            <a:ext cx="452628" cy="452628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03704" y="4133088"/>
            <a:ext cx="452628" cy="452628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03704" y="4206240"/>
            <a:ext cx="45262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4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2656332" y="4133088"/>
            <a:ext cx="452628" cy="452628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98448" y="4585716"/>
            <a:ext cx="452628" cy="452628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751076" y="4585716"/>
            <a:ext cx="452628" cy="452628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751076" y="4658868"/>
            <a:ext cx="45262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3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2203704" y="4585716"/>
            <a:ext cx="452628" cy="452628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656332" y="4585716"/>
            <a:ext cx="452628" cy="452628"/>
          </a:xfrm>
          <a:prstGeom prst="rect">
            <a:avLst/>
          </a:prstGeom>
          <a:solidFill>
            <a:srgbClr val="0E1F36"/>
          </a:solidFill>
          <a:ln w="9525">
            <a:solidFill>
              <a:srgbClr val="33507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56332" y="4658868"/>
            <a:ext cx="45262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1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2203704" y="3227832"/>
            <a:ext cx="0" cy="1810512"/>
          </a:xfrm>
          <a:prstGeom prst="line">
            <a:avLst/>
          </a:prstGeom>
          <a:noFill/>
          <a:ln w="27940">
            <a:solidFill>
              <a:srgbClr val="2DD4B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298448" y="4133088"/>
            <a:ext cx="1810512" cy="0"/>
          </a:xfrm>
          <a:prstGeom prst="line">
            <a:avLst/>
          </a:prstGeom>
          <a:noFill/>
          <a:ln w="27940">
            <a:solidFill>
              <a:srgbClr val="2DD4B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298448" y="3227832"/>
            <a:ext cx="1810512" cy="1810512"/>
          </a:xfrm>
          <a:prstGeom prst="rect">
            <a:avLst/>
          </a:prstGeom>
          <a:solidFill>
            <a:srgbClr val="07111F">
              <a:alpha val="0"/>
            </a:srgbClr>
          </a:solidFill>
          <a:ln w="25400">
            <a:solidFill>
              <a:srgbClr val="2DD4B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370832" y="3611880"/>
            <a:ext cx="630936" cy="0"/>
          </a:xfrm>
          <a:prstGeom prst="line">
            <a:avLst/>
          </a:prstGeom>
          <a:noFill/>
          <a:ln w="27940">
            <a:solidFill>
              <a:srgbClr val="FBBF24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5138928" y="1508760"/>
            <a:ext cx="3383280" cy="4297680"/>
          </a:xfrm>
          <a:prstGeom prst="roundRect">
            <a:avLst>
              <a:gd name="adj" fmla="val 3514"/>
            </a:avLst>
          </a:prstGeom>
          <a:solidFill>
            <a:srgbClr val="2A200A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49824" y="18470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BF24"/>
                </a:solidFill>
              </a:rPr>
              <a:t>Apply rules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5504688" y="2551176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24144" y="24871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8FAFC"/>
                </a:solidFill>
              </a:rPr>
              <a:t>Row already has 1 and 3</a:t>
            </a:r>
            <a:endParaRPr lang="en-US" sz="1450" dirty="0"/>
          </a:p>
        </p:txBody>
      </p:sp>
      <p:sp>
        <p:nvSpPr>
          <p:cNvPr id="45" name="Shape 43"/>
          <p:cNvSpPr/>
          <p:nvPr/>
        </p:nvSpPr>
        <p:spPr>
          <a:xfrm>
            <a:off x="5504688" y="3035808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24144" y="29718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8FAFC"/>
                </a:solidFill>
              </a:rPr>
              <a:t>Column already has 3</a:t>
            </a:r>
            <a:endParaRPr lang="en-US" sz="1450" dirty="0"/>
          </a:p>
        </p:txBody>
      </p:sp>
      <p:sp>
        <p:nvSpPr>
          <p:cNvPr id="47" name="Shape 45"/>
          <p:cNvSpPr/>
          <p:nvPr/>
        </p:nvSpPr>
        <p:spPr>
          <a:xfrm>
            <a:off x="5504688" y="3520440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24144" y="345643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8FAFC"/>
                </a:solidFill>
              </a:rPr>
              <a:t>Box already has 1 and 4</a:t>
            </a:r>
            <a:endParaRPr lang="en-US" sz="1450" dirty="0"/>
          </a:p>
        </p:txBody>
      </p:sp>
      <p:sp>
        <p:nvSpPr>
          <p:cNvPr id="49" name="Text 47"/>
          <p:cNvSpPr/>
          <p:nvPr/>
        </p:nvSpPr>
        <p:spPr>
          <a:xfrm>
            <a:off x="5504688" y="4343400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8FAFC"/>
                </a:solidFill>
              </a:rPr>
              <a:t>Remove impossible values</a:t>
            </a:r>
            <a:endParaRPr lang="en-US" sz="1650" dirty="0"/>
          </a:p>
        </p:txBody>
      </p:sp>
      <p:sp>
        <p:nvSpPr>
          <p:cNvPr id="50" name="Shape 48"/>
          <p:cNvSpPr/>
          <p:nvPr/>
        </p:nvSpPr>
        <p:spPr>
          <a:xfrm>
            <a:off x="8759952" y="3611880"/>
            <a:ext cx="630936" cy="0"/>
          </a:xfrm>
          <a:prstGeom prst="line">
            <a:avLst/>
          </a:prstGeom>
          <a:noFill/>
          <a:ln w="27940">
            <a:solidFill>
              <a:srgbClr val="34D399"/>
            </a:solidFill>
            <a:prstDash val="solid"/>
            <a:headEnd type="none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9528048" y="1508760"/>
            <a:ext cx="1920240" cy="4297680"/>
          </a:xfrm>
          <a:prstGeom prst="roundRect">
            <a:avLst>
              <a:gd name="adj" fmla="val 6190"/>
            </a:avLst>
          </a:prstGeom>
          <a:solidFill>
            <a:srgbClr val="0F2A1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710928" y="184708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</a:rPr>
              <a:t>Reduced domain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9784080" y="2980944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8FAFC"/>
                </a:solidFill>
              </a:rPr>
              <a:t>{2}</a:t>
            </a:r>
            <a:endParaRPr lang="en-US" sz="3200" dirty="0"/>
          </a:p>
        </p:txBody>
      </p:sp>
      <p:sp>
        <p:nvSpPr>
          <p:cNvPr id="54" name="Text 52"/>
          <p:cNvSpPr/>
          <p:nvPr/>
        </p:nvSpPr>
        <p:spPr>
          <a:xfrm>
            <a:off x="9784080" y="3913632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D399"/>
                </a:solidFill>
              </a:rPr>
              <a:t>Forced move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1298448" y="5980176"/>
            <a:ext cx="9509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rgbClr val="2DD4BF"/>
                </a:solidFill>
              </a:rPr>
              <a:t>Propagation turns some guesses into conclusions.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50292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Backtracking search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594360" y="987552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94A3B8"/>
                </a:solidFill>
              </a:rPr>
              <a:t>When propagation is not enough, the solver explores choices systematically.</a:t>
            </a:r>
            <a:endParaRPr lang="en-US" sz="1180" dirty="0"/>
          </a:p>
        </p:txBody>
      </p:sp>
      <p:sp>
        <p:nvSpPr>
          <p:cNvPr id="6" name="Shape 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30712">
              <a:alpha val="95000"/>
            </a:srgbClr>
          </a:solidFill>
          <a:ln w="12700">
            <a:solidFill>
              <a:srgbClr val="03071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6537960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02 | Mohaimen Al Mamun • Kawsar Hossain • Susmit Talukder • MD. Rafi Hoque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11384280" y="6519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7/11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13232" y="1508760"/>
            <a:ext cx="4572000" cy="4343400"/>
          </a:xfrm>
          <a:prstGeom prst="roundRect">
            <a:avLst>
              <a:gd name="adj" fmla="val 2737"/>
            </a:avLst>
          </a:prstGeom>
          <a:solidFill>
            <a:srgbClr val="0C1C31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470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Depth-first exploration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078992" y="2606040"/>
            <a:ext cx="109728" cy="10972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98448" y="254203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F8FAFC"/>
                </a:solidFill>
              </a:rPr>
              <a:t>Pick an unassigned variable.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078992" y="3154680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8448" y="309067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F8FAFC"/>
                </a:solidFill>
              </a:rPr>
              <a:t>Try a legal value.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078992" y="3703320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98448" y="363931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F8FAFC"/>
                </a:solidFill>
              </a:rPr>
              <a:t>Continue only if constraints hold.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078992" y="4251960"/>
            <a:ext cx="109728" cy="109728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98448" y="418795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F8FAFC"/>
                </a:solidFill>
              </a:rPr>
              <a:t>Undo and try another value on conflict.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5806440" y="1508760"/>
            <a:ext cx="5440680" cy="4343400"/>
          </a:xfrm>
          <a:prstGeom prst="roundRect">
            <a:avLst>
              <a:gd name="adj" fmla="val 2737"/>
            </a:avLst>
          </a:prstGeom>
          <a:solidFill>
            <a:srgbClr val="0B172A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63056" y="184708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D4BF"/>
                </a:solidFill>
              </a:rPr>
              <a:t>Decision sequence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263640" y="2514600"/>
            <a:ext cx="2057400" cy="749808"/>
          </a:xfrm>
          <a:prstGeom prst="roundRect">
            <a:avLst>
              <a:gd name="adj" fmla="val 15854"/>
            </a:avLst>
          </a:prstGeom>
          <a:solidFill>
            <a:srgbClr val="10203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73368" y="2715768"/>
            <a:ext cx="274320" cy="182880"/>
          </a:xfrm>
          <a:prstGeom prst="rect">
            <a:avLst/>
          </a:prstGeom>
          <a:solidFill>
            <a:srgbClr val="60A5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11F"/>
                </a:solidFill>
              </a:rPr>
              <a:t>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39128" y="274320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</a:rPr>
              <a:t>Select variable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595360" y="2514600"/>
            <a:ext cx="2057400" cy="749808"/>
          </a:xfrm>
          <a:prstGeom prst="roundRect">
            <a:avLst>
              <a:gd name="adj" fmla="val 15854"/>
            </a:avLst>
          </a:prstGeom>
          <a:solidFill>
            <a:srgbClr val="10203A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05088" y="2715768"/>
            <a:ext cx="274320" cy="182880"/>
          </a:xfrm>
          <a:prstGeom prst="rect">
            <a:avLst/>
          </a:prstGeom>
          <a:solidFill>
            <a:srgbClr val="FBBF2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11F"/>
                </a:solidFill>
              </a:rPr>
              <a:t>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070848" y="274320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</a:rPr>
              <a:t>Try legal value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63640" y="3575304"/>
            <a:ext cx="2057400" cy="749808"/>
          </a:xfrm>
          <a:prstGeom prst="roundRect">
            <a:avLst>
              <a:gd name="adj" fmla="val 15854"/>
            </a:avLst>
          </a:prstGeom>
          <a:solidFill>
            <a:srgbClr val="30131B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73368" y="3776472"/>
            <a:ext cx="274320" cy="182880"/>
          </a:xfrm>
          <a:prstGeom prst="rect">
            <a:avLst/>
          </a:prstGeom>
          <a:solidFill>
            <a:srgbClr val="FB718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11F"/>
                </a:solidFill>
              </a:rPr>
              <a:t>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739128" y="380390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</a:rPr>
              <a:t>Detect conflict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595360" y="3575304"/>
            <a:ext cx="2057400" cy="749808"/>
          </a:xfrm>
          <a:prstGeom prst="roundRect">
            <a:avLst>
              <a:gd name="adj" fmla="val 15854"/>
            </a:avLst>
          </a:prstGeom>
          <a:solidFill>
            <a:srgbClr val="10203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05088" y="3776472"/>
            <a:ext cx="274320" cy="182880"/>
          </a:xfrm>
          <a:prstGeom prst="rect">
            <a:avLst/>
          </a:prstGeom>
          <a:solidFill>
            <a:srgbClr val="34D39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11F"/>
                </a:solidFill>
              </a:rPr>
              <a:t>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070848" y="380390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</a:rPr>
              <a:t>Undo and continue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400800" y="46817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BBF24"/>
                </a:solidFill>
              </a:rPr>
              <a:t>Backtracking is organized trial, not random guessing.</a:t>
            </a:r>
            <a:endParaRPr lang="en-US" sz="1520" dirty="0"/>
          </a:p>
        </p:txBody>
      </p:sp>
      <p:sp>
        <p:nvSpPr>
          <p:cNvPr id="34" name="Text 32"/>
          <p:cNvSpPr/>
          <p:nvPr/>
        </p:nvSpPr>
        <p:spPr>
          <a:xfrm>
            <a:off x="6473952" y="519379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dirty="0">
                <a:solidFill>
                  <a:srgbClr val="CBD5E1"/>
                </a:solidFill>
              </a:rPr>
              <a:t>It remembers previous decisions and reverses only when needed.</a:t>
            </a:r>
            <a:endParaRPr lang="en-US" sz="12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50292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combined solving strategy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594360" y="987552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94A3B8"/>
                </a:solidFill>
              </a:rPr>
              <a:t>Propagation narrows the road; backtracking finishes the journey.</a:t>
            </a:r>
            <a:endParaRPr lang="en-US" sz="1180" dirty="0"/>
          </a:p>
        </p:txBody>
      </p:sp>
      <p:sp>
        <p:nvSpPr>
          <p:cNvPr id="6" name="Shape 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30712">
              <a:alpha val="95000"/>
            </a:srgbClr>
          </a:solidFill>
          <a:ln w="12700">
            <a:solidFill>
              <a:srgbClr val="03071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6537960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02 | Mohaimen Al Mamun • Kawsar Hossain • Susmit Talukder • MD. Rafi Hoque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11384280" y="6519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8/11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58368" y="1874520"/>
            <a:ext cx="1920240" cy="1234440"/>
          </a:xfrm>
          <a:prstGeom prst="roundRect">
            <a:avLst>
              <a:gd name="adj" fmla="val 9630"/>
            </a:avLst>
          </a:prstGeom>
          <a:solidFill>
            <a:srgbClr val="10203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157984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60A5FA"/>
                </a:solidFill>
              </a:rPr>
              <a:t>Input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22960" y="2542032"/>
            <a:ext cx="159105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CBD5E1"/>
                </a:solidFill>
              </a:rPr>
              <a:t>Puzzle state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2606040" y="2468880"/>
            <a:ext cx="301752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944368" y="1874520"/>
            <a:ext cx="1920240" cy="1234440"/>
          </a:xfrm>
          <a:prstGeom prst="roundRect">
            <a:avLst>
              <a:gd name="adj" fmla="val 9630"/>
            </a:avLst>
          </a:prstGeom>
          <a:solidFill>
            <a:srgbClr val="10203A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2157984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DD4BF"/>
                </a:solidFill>
              </a:rPr>
              <a:t>CSP model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108960" y="2542032"/>
            <a:ext cx="159105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CBD5E1"/>
                </a:solidFill>
              </a:rPr>
              <a:t>Variables + domains + constraints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4892040" y="2468880"/>
            <a:ext cx="301752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230368" y="1874520"/>
            <a:ext cx="1920240" cy="1234440"/>
          </a:xfrm>
          <a:prstGeom prst="roundRect">
            <a:avLst>
              <a:gd name="adj" fmla="val 9630"/>
            </a:avLst>
          </a:prstGeom>
          <a:solidFill>
            <a:srgbClr val="2A200A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0" y="2157984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BBF24"/>
                </a:solidFill>
              </a:rPr>
              <a:t>Propagate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394960" y="2542032"/>
            <a:ext cx="159105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CBD5E1"/>
                </a:solidFill>
              </a:rPr>
              <a:t>Prune impossible values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7178040" y="2468880"/>
            <a:ext cx="301752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516368" y="1874520"/>
            <a:ext cx="1920240" cy="1234440"/>
          </a:xfrm>
          <a:prstGeom prst="roundRect">
            <a:avLst>
              <a:gd name="adj" fmla="val 9630"/>
            </a:avLst>
          </a:prstGeom>
          <a:solidFill>
            <a:srgbClr val="10203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0" y="2157984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A78BFA"/>
                </a:solidFill>
              </a:rPr>
              <a:t>Search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680960" y="2542032"/>
            <a:ext cx="159105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CBD5E1"/>
                </a:solidFill>
              </a:rPr>
              <a:t>Backtrack on conflicts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9464040" y="2468880"/>
            <a:ext cx="301752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802368" y="1874520"/>
            <a:ext cx="1920240" cy="1234440"/>
          </a:xfrm>
          <a:prstGeom prst="roundRect">
            <a:avLst>
              <a:gd name="adj" fmla="val 9630"/>
            </a:avLst>
          </a:prstGeom>
          <a:solidFill>
            <a:srgbClr val="10203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66960" y="2157984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34D399"/>
                </a:solidFill>
              </a:rPr>
              <a:t>Output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9966960" y="2542032"/>
            <a:ext cx="159105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CBD5E1"/>
                </a:solidFill>
              </a:rPr>
              <a:t>Solved or explained failure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868680" y="3977640"/>
            <a:ext cx="3291840" cy="1143000"/>
          </a:xfrm>
          <a:prstGeom prst="roundRect">
            <a:avLst>
              <a:gd name="adj" fmla="val 10400"/>
            </a:avLst>
          </a:prstGeom>
          <a:solidFill>
            <a:srgbClr val="0B2337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33856" y="42519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0A5FA"/>
                </a:solidFill>
              </a:rPr>
              <a:t>If rules solve it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1133856" y="464515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Propagation fills cells directly.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443984" y="3977640"/>
            <a:ext cx="3291840" cy="1143000"/>
          </a:xfrm>
          <a:prstGeom prst="roundRect">
            <a:avLst>
              <a:gd name="adj" fmla="val 10400"/>
            </a:avLst>
          </a:prstGeom>
          <a:solidFill>
            <a:srgbClr val="0B2B27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42519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D4BF"/>
                </a:solidFill>
              </a:rPr>
              <a:t>If choices remain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4709160" y="464515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Backtracking explores valid branches.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019288" y="3977640"/>
            <a:ext cx="3291840" cy="1143000"/>
          </a:xfrm>
          <a:prstGeom prst="roundRect">
            <a:avLst>
              <a:gd name="adj" fmla="val 10400"/>
            </a:avLst>
          </a:prstGeom>
          <a:solidFill>
            <a:srgbClr val="30131B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84464" y="42519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B7185"/>
                </a:solidFill>
              </a:rPr>
              <a:t>If conflict appears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8284464" y="464515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The solver rejects that branch.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143000" y="5623560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BBF24"/>
                </a:solidFill>
              </a:rPr>
              <a:t>The key idea: search becomes smaller because constraints do work before recursion.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50292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Correctness and validation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594360" y="987552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94A3B8"/>
                </a:solidFill>
              </a:rPr>
              <a:t>The solver must not only find an answer - it must know when an answer is valid.</a:t>
            </a:r>
            <a:endParaRPr lang="en-US" sz="1180" dirty="0"/>
          </a:p>
        </p:txBody>
      </p:sp>
      <p:sp>
        <p:nvSpPr>
          <p:cNvPr id="6" name="Shape 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30712">
              <a:alpha val="95000"/>
            </a:srgbClr>
          </a:solidFill>
          <a:ln w="12700">
            <a:solidFill>
              <a:srgbClr val="03071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6537960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02 | Mohaimen Al Mamun • Kawsar Hossain • Susmit Talukder • MD. Rafi Hoque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11384280" y="6519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9/11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77240" y="1645920"/>
            <a:ext cx="4892040" cy="1371600"/>
          </a:xfrm>
          <a:prstGeom prst="roundRect">
            <a:avLst>
              <a:gd name="adj" fmla="val 8667"/>
            </a:avLst>
          </a:prstGeom>
          <a:solidFill>
            <a:srgbClr val="0F2A1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195681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</a:rPr>
              <a:t>Valid puzzle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33272" y="2414016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</a:rPr>
              <a:t>Returns a completed grid satisfying all constraints.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09360" y="1645920"/>
            <a:ext cx="4892040" cy="1371600"/>
          </a:xfrm>
          <a:prstGeom prst="roundRect">
            <a:avLst>
              <a:gd name="adj" fmla="val 8667"/>
            </a:avLst>
          </a:prstGeom>
          <a:solidFill>
            <a:srgbClr val="30131B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65392" y="195681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7185"/>
                </a:solidFill>
              </a:rPr>
              <a:t>Invalid input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565392" y="2414016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</a:rPr>
              <a:t>Detects contradictions such as repeated values.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77240" y="3520440"/>
            <a:ext cx="4892040" cy="1371600"/>
          </a:xfrm>
          <a:prstGeom prst="roundRect">
            <a:avLst>
              <a:gd name="adj" fmla="val 8667"/>
            </a:avLst>
          </a:prstGeom>
          <a:solidFill>
            <a:srgbClr val="2A200A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33272" y="383133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BF24"/>
                </a:solidFill>
              </a:rPr>
              <a:t>No solution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33272" y="4288536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</a:rPr>
              <a:t>Stops gracefully when no consistent assignment exists.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309360" y="3520440"/>
            <a:ext cx="4892040" cy="1371600"/>
          </a:xfrm>
          <a:prstGeom prst="roundRect">
            <a:avLst>
              <a:gd name="adj" fmla="val 8667"/>
            </a:avLst>
          </a:prstGeom>
          <a:solidFill>
            <a:srgbClr val="0B2B27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65392" y="383133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</a:rPr>
              <a:t>Final check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565392" y="4288536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</a:rPr>
              <a:t>Verifies every row, column, and box before success.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1874520" y="5522976"/>
            <a:ext cx="8458200" cy="502920"/>
          </a:xfrm>
          <a:prstGeom prst="roundRect">
            <a:avLst>
              <a:gd name="adj" fmla="val 23636"/>
            </a:avLst>
          </a:prstGeom>
          <a:solidFill>
            <a:srgbClr val="0C1C31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48840" y="5678424"/>
            <a:ext cx="7909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F8FAFC"/>
                </a:solidFill>
              </a:rPr>
              <a:t>A wrong solution is worse than no solution - so validation is part of the AI behavior.</a:t>
            </a:r>
            <a:endParaRPr lang="en-US" sz="137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50292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makes the project meaningful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594360" y="987552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94A3B8"/>
                </a:solidFill>
              </a:rPr>
              <a:t>It turns classroom theory into a working reasoning system.</a:t>
            </a:r>
            <a:endParaRPr lang="en-US" sz="1180" dirty="0"/>
          </a:p>
        </p:txBody>
      </p:sp>
      <p:sp>
        <p:nvSpPr>
          <p:cNvPr id="6" name="Shape 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30712">
              <a:alpha val="95000"/>
            </a:srgbClr>
          </a:solidFill>
          <a:ln w="12700">
            <a:solidFill>
              <a:srgbClr val="03071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6537960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02 | Mohaimen Al Mamun • Kawsar Hossain • Susmit Talukder • MD. Rafi Hoque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11384280" y="6519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10/11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77240" y="1572768"/>
            <a:ext cx="3337560" cy="4114800"/>
          </a:xfrm>
          <a:prstGeom prst="roundRect">
            <a:avLst>
              <a:gd name="adj" fmla="val 3562"/>
            </a:avLst>
          </a:prstGeom>
          <a:solidFill>
            <a:srgbClr val="0B2337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19019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0A5FA"/>
                </a:solidFill>
              </a:rPr>
              <a:t>Theory used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115568" y="2697480"/>
            <a:ext cx="109728" cy="109728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35024" y="263347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8FAFC"/>
                </a:solidFill>
              </a:rPr>
              <a:t>Constraint Satisfaction Problems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1115568" y="3209544"/>
            <a:ext cx="109728" cy="109728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35024" y="314553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8FAFC"/>
                </a:solidFill>
              </a:rPr>
              <a:t>Consistency checking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1115568" y="3721608"/>
            <a:ext cx="109728" cy="109728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35024" y="36576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8FAFC"/>
                </a:solidFill>
              </a:rPr>
              <a:t>Backtracking search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1115568" y="4233672"/>
            <a:ext cx="109728" cy="109728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35024" y="416966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8FAFC"/>
                </a:solidFill>
              </a:rPr>
              <a:t>Constraint propagation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4434840" y="1572768"/>
            <a:ext cx="3337560" cy="4114800"/>
          </a:xfrm>
          <a:prstGeom prst="roundRect">
            <a:avLst>
              <a:gd name="adj" fmla="val 3562"/>
            </a:avLst>
          </a:prstGeom>
          <a:solidFill>
            <a:srgbClr val="0B2B27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19019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D4BF"/>
                </a:solidFill>
              </a:rPr>
              <a:t>Experience gained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4773168" y="2697480"/>
            <a:ext cx="109728" cy="10972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92624" y="263347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8FAFC"/>
                </a:solidFill>
              </a:rPr>
              <a:t>Converting rules into constraints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4773168" y="3209544"/>
            <a:ext cx="109728" cy="10972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92624" y="314553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8FAFC"/>
                </a:solidFill>
              </a:rPr>
              <a:t>Designing reliable failure messages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4773168" y="3721608"/>
            <a:ext cx="109728" cy="10972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92624" y="36576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8FAFC"/>
                </a:solidFill>
              </a:rPr>
              <a:t>Testing edge cases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4773168" y="4233672"/>
            <a:ext cx="109728" cy="10972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92624" y="416966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8FAFC"/>
                </a:solidFill>
              </a:rPr>
              <a:t>Balancing speed and clarity</a:t>
            </a:r>
            <a:endParaRPr lang="en-US" sz="1550" dirty="0"/>
          </a:p>
        </p:txBody>
      </p:sp>
      <p:sp>
        <p:nvSpPr>
          <p:cNvPr id="29" name="Shape 27"/>
          <p:cNvSpPr/>
          <p:nvPr/>
        </p:nvSpPr>
        <p:spPr>
          <a:xfrm>
            <a:off x="8092440" y="1572768"/>
            <a:ext cx="3337560" cy="4114800"/>
          </a:xfrm>
          <a:prstGeom prst="roundRect">
            <a:avLst>
              <a:gd name="adj" fmla="val 3562"/>
            </a:avLst>
          </a:prstGeom>
          <a:solidFill>
            <a:srgbClr val="2A200A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66760" y="19019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F24"/>
                </a:solidFill>
              </a:rPr>
              <a:t>Why it matters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8430768" y="2697480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50224" y="263347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8FAFC"/>
                </a:solidFill>
              </a:rPr>
              <a:t>Shows explainable AI reasoning</a:t>
            </a:r>
            <a:endParaRPr lang="en-US" sz="1550" dirty="0"/>
          </a:p>
        </p:txBody>
      </p:sp>
      <p:sp>
        <p:nvSpPr>
          <p:cNvPr id="33" name="Shape 31"/>
          <p:cNvSpPr/>
          <p:nvPr/>
        </p:nvSpPr>
        <p:spPr>
          <a:xfrm>
            <a:off x="8430768" y="3209544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50224" y="314553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8FAFC"/>
                </a:solidFill>
              </a:rPr>
              <a:t>Demonstrates search control</a:t>
            </a:r>
            <a:endParaRPr lang="en-US" sz="1550" dirty="0"/>
          </a:p>
        </p:txBody>
      </p:sp>
      <p:sp>
        <p:nvSpPr>
          <p:cNvPr id="35" name="Shape 33"/>
          <p:cNvSpPr/>
          <p:nvPr/>
        </p:nvSpPr>
        <p:spPr>
          <a:xfrm>
            <a:off x="8430768" y="3721608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50224" y="36576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8FAFC"/>
                </a:solidFill>
              </a:rPr>
              <a:t>Connects abstract theory to output</a:t>
            </a:r>
            <a:endParaRPr lang="en-US" sz="1550" dirty="0"/>
          </a:p>
        </p:txBody>
      </p:sp>
      <p:sp>
        <p:nvSpPr>
          <p:cNvPr id="37" name="Shape 35"/>
          <p:cNvSpPr/>
          <p:nvPr/>
        </p:nvSpPr>
        <p:spPr>
          <a:xfrm>
            <a:off x="8430768" y="4233672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50224" y="416966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8FAFC"/>
                </a:solidFill>
              </a:rPr>
              <a:t>Scales to other puzzles conceptually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50292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 and future work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594360" y="987552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94A3B8"/>
                </a:solidFill>
              </a:rPr>
              <a:t>One final takeaway: AI works best when knowledge narrows the search.</a:t>
            </a:r>
            <a:endParaRPr lang="en-US" sz="1180" dirty="0"/>
          </a:p>
        </p:txBody>
      </p:sp>
      <p:sp>
        <p:nvSpPr>
          <p:cNvPr id="6" name="Shape 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30712">
              <a:alpha val="95000"/>
            </a:srgbClr>
          </a:solidFill>
          <a:ln w="12700">
            <a:solidFill>
              <a:srgbClr val="03071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6537960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02 | Mohaimen Al Mamun • Kawsar Hossain • Susmit Talukder • MD. Rafi Hoque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11384280" y="6519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11/11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49808" y="1508760"/>
            <a:ext cx="5120640" cy="2880360"/>
          </a:xfrm>
          <a:prstGeom prst="roundRect">
            <a:avLst>
              <a:gd name="adj" fmla="val 4127"/>
            </a:avLst>
          </a:prstGeom>
          <a:solidFill>
            <a:srgbClr val="0C1C31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18470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Conclusion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097280" y="2606040"/>
            <a:ext cx="109728" cy="10972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16736" y="2542032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We modeled the puzzle as a CSP.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097280" y="3118104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16736" y="3054096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We used constraints to reduce impossible choices.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097280" y="3630168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16736" y="3566160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We used backtracking to complete the search reliably.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291072" y="1508760"/>
            <a:ext cx="5120640" cy="2880360"/>
          </a:xfrm>
          <a:prstGeom prst="roundRect">
            <a:avLst>
              <a:gd name="adj" fmla="val 4127"/>
            </a:avLst>
          </a:prstGeom>
          <a:solidFill>
            <a:srgbClr val="0B2B27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01968" y="18470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Future work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638544" y="2606040"/>
            <a:ext cx="109728" cy="10972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2542032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Step-by-step explanation for every move.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638544" y="3118104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3054096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Heuristic comparison for faster search.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638544" y="3630168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3566160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</a:rPr>
              <a:t>Extension to Kakuro or other logic puzzles.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1188720" y="4919472"/>
            <a:ext cx="9829800" cy="749808"/>
          </a:xfrm>
          <a:prstGeom prst="roundRect">
            <a:avLst>
              <a:gd name="adj" fmla="val 15854"/>
            </a:avLst>
          </a:prstGeom>
          <a:solidFill>
            <a:srgbClr val="2A200A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08760" y="512064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BBF24"/>
                </a:solidFill>
              </a:rPr>
              <a:t>Final line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2926080" y="507492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“The solver does not guess blindly - it reasons through constraints.”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736592" y="585216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DD4BF"/>
                </a:solidFill>
              </a:rPr>
              <a:t>Thank you</a:t>
            </a:r>
            <a:endParaRPr lang="en-US" sz="2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North South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Logic Puzzle Solver - CSE440 AI Project</dc:title>
  <dc:subject>Logic Puzzle Solver using Constraint Satisfaction, Constraint Propagation, and Backtracking Search</dc:subject>
  <dc:creator>CSE440 Group 02</dc:creator>
  <cp:lastModifiedBy>CSE440 Group 02</cp:lastModifiedBy>
  <cp:revision>1</cp:revision>
  <dcterms:created xsi:type="dcterms:W3CDTF">2026-04-27T20:40:46Z</dcterms:created>
  <dcterms:modified xsi:type="dcterms:W3CDTF">2026-04-27T20:40:46Z</dcterms:modified>
</cp:coreProperties>
</file>